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62230"/>
          </a:solidFill>
          <a:ln w="12700">
            <a:solidFill>
              <a:srgbClr val="1622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274320"/>
            <a:ext cx="2560320" cy="1408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0" y="18288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الابتكار في التعليم الإلكتروني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10896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الحقيبة التدريبية الشاملة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00400" y="3291840"/>
            <a:ext cx="173736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3291840"/>
            <a:ext cx="17373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33649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200400" y="3886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وحدات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120640" y="3291840"/>
            <a:ext cx="173736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120640" y="3291840"/>
            <a:ext cx="17373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0" y="33649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120640" y="3886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040880" y="3291840"/>
            <a:ext cx="173736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040880" y="3291840"/>
            <a:ext cx="17373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33649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إبهار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040880" y="3886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معهد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 rot="5400000">
            <a:off x="91440" y="9144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معهد إبهار للتدريب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1463040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828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فهرس المحتوى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188720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03920" y="1188720"/>
            <a:ext cx="365760" cy="621792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887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1280160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التحول نحو التعليم الإلكتروني والابتكار التعليمي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938528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03920" y="1938528"/>
            <a:ext cx="365760" cy="62179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93852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05840" y="2029968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بيئات التعلم الإلكترونية الفاعلة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2688336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03920" y="2688336"/>
            <a:ext cx="365760" cy="621792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268833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05840" y="2779776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استراتيجيات الابتكار في التعليم الإلكتروني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3438144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03920" y="3438144"/>
            <a:ext cx="365760" cy="621792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343814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1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05840" y="3529584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والتقنيات الناشئة في التعليم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4187952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503920" y="4187952"/>
            <a:ext cx="365760" cy="6217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1879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05840" y="4279392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الأثر والكفاءة والإنتاجية في التعليم الإلكتروني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6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-457200" y="-45720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FFFFFF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"/>
            <a:ext cx="182880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التحول نحو التعليم الإلكتروني والابتكار التعليمي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65760" y="438912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7452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الابتكار في التعليم الإلكتروني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يشهد التعليم تحولاً جذرياً نحو بيئات رقمية مبتكرة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يهدف البرنامج لتمكين الممارسين التربويين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تجارب تعلم إلكترونية أكثر فاعلية وتأثيراً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معهد إبهار للتدريب — برنامج متكامل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1A6B5A">
              <a:alpha val="25000"/>
            </a:srgbClr>
          </a:solidFill>
          <a:ln w="12700">
            <a:solidFill>
              <a:srgbClr val="1A6B5A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2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أصبح الابتكار ضرورة؟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رئيسية للتعليم المستمر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بيئة تعلم مستمرة خارج الفصل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وسيلة لتخصيص التعلم الفردي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للتحول الرقمي المؤسسي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1A6B5A">
              <a:alpha val="25000"/>
            </a:srgbClr>
          </a:solidFill>
          <a:ln w="12700">
            <a:solidFill>
              <a:srgbClr val="1A6B5A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3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مفهوم الابتكار في التعليم الإلكتروني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تطوير أساليب وأدوات تحقق قيمة مضافة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 مجرد استخدام التقنية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 استخدامها لتحقيق نتائج أفضل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العروض التقليدية إلى أنشطة تفاعلية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1A6B5A">
              <a:alpha val="25000"/>
            </a:srgbClr>
          </a:solidFill>
          <a:ln w="12700">
            <a:solidFill>
              <a:srgbClr val="1A6B5A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خصائص التعليم الإلكتروني المبتكر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المرونة: التعلم في أي وقت ومكان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التفاعلية: زيادة مشاركة المتعلم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التخصيص: مراعاة الفروق الفردية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البيانات: قياس الأداء بشكل مستمر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1A6B5A">
              <a:alpha val="25000"/>
            </a:srgbClr>
          </a:solidFill>
          <a:ln w="12700">
            <a:solidFill>
              <a:srgbClr val="1A6B5A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التحول الرقمي في التعليم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تصميم العمليات والممارسات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تحديث أساليب التعلم والتقويم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 مجرد شراء أجهزة وتقنيات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مدرسة أكثر كفاءة وفاعلية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1A6B5A">
              <a:alpha val="25000"/>
            </a:srgbClr>
          </a:solidFill>
          <a:ln w="12700">
            <a:solidFill>
              <a:srgbClr val="1A6B5A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D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-457200" y="-45720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FFFFFF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"/>
            <a:ext cx="182880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بيئات التعلم الإلكترونية الفاعلة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65760" y="438912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7452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11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المقصود ببيئة التعلم الإلكترونية؟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متكاملة: متعلم + معلم + محتوى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تضم الأنشطة وأدوات التواصل والتقويم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تهدف لتوفير تجربة تعلم تفاعلية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نجاحها يعتمد على التصميم لا المنصة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1E4D8C">
              <a:alpha val="25000"/>
            </a:srgbClr>
          </a:solidFill>
          <a:ln w="12700">
            <a:solidFill>
              <a:srgbClr val="1E4D8C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13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ADDIE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005840"/>
            <a:ext cx="256032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62656" y="1005840"/>
            <a:ext cx="54864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115568"/>
            <a:ext cx="292608" cy="292608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12064" y="1078992"/>
            <a:ext cx="205740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التحليل Analysis — فهم المتعلمين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154680" y="1005840"/>
            <a:ext cx="256032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0136" y="1005840"/>
            <a:ext cx="54864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64408" y="1115568"/>
            <a:ext cx="292608" cy="292608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6440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09544" y="1078992"/>
            <a:ext cx="205740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التصميم Design — تحديد الأهداف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852160" y="1005840"/>
            <a:ext cx="256032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57616" y="1005840"/>
            <a:ext cx="54864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61888" y="1115568"/>
            <a:ext cx="292608" cy="292608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6188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07024" y="1078992"/>
            <a:ext cx="205740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التطوير Development — إنتاج المحتوى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2679192"/>
            <a:ext cx="256032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962656" y="2679192"/>
            <a:ext cx="54864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" y="2788920"/>
            <a:ext cx="292608" cy="292608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12064" y="2752344"/>
            <a:ext cx="205740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التنفيذ Implementation — تقديم البرنامج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154680" y="2679192"/>
            <a:ext cx="256032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60136" y="2679192"/>
            <a:ext cx="54864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264408" y="2788920"/>
            <a:ext cx="292608" cy="292608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6440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209544" y="2752344"/>
            <a:ext cx="205740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التقويم Evaluation — قياس النتائج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1E4D8C">
              <a:alpha val="25000"/>
            </a:srgbClr>
          </a:solidFill>
          <a:ln w="12700">
            <a:solidFill>
              <a:srgbClr val="1E4D8C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19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SAMR للتحول الرقمي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الاستبدال: PDF بدلاً من الورق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التحسين: إضافة روابط تفاعلية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التعديل: أنشطة تعاونية إلكترونية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التعريف: مشروعات رقمية جديدة كلياً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1E4D8C">
              <a:alpha val="25000"/>
            </a:srgbClr>
          </a:solidFill>
          <a:ln w="12700">
            <a:solidFill>
              <a:srgbClr val="1E4D8C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B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-457200" y="-45720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FFFFFF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"/>
            <a:ext cx="182880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استراتيجيات الابتكار في التعليم الإلكتروني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65760" y="438912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7452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24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التعلم المدمج Blended Learning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دمج التعليم الحضوري بالإلكتروني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مرونة أكبر وتنوع مصادر التعلم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زيادة التفاعل وتحسين التحصيل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الشرح حضورياً + الأنشطة إلكترونياً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7B3A1E">
              <a:alpha val="25000"/>
            </a:srgbClr>
          </a:solidFill>
          <a:ln w="12700">
            <a:solidFill>
              <a:srgbClr val="7B3A1E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25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التعلم المقلوب Flipped Learning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يتعلم المحتوى قبل الحصة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الحصة للنقاش والتطبيق والإبداع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زيادة المشاركة وتنمية التفكير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استثمار وقت الحصة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7B3A1E">
              <a:alpha val="25000"/>
            </a:srgbClr>
          </a:solidFill>
          <a:ln w="12700">
            <a:solidFill>
              <a:srgbClr val="7B3A1E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26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التلعيب Gamification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النقاط والشارات والمستويات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لوحات الصدارة لتحفيز التنافس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الدافعية والمشاركة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استراتيجية تعليمية مدروسة وليست لعباً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7B3A1E">
              <a:alpha val="25000"/>
            </a:srgbClr>
          </a:solidFill>
          <a:ln w="12700">
            <a:solidFill>
              <a:srgbClr val="7B3A1E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27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التعلم المصغر Microlearning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وحدات صغيرة قصيرة ومركزة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سهولة الاستيعاب وزيادة التركيز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فيديو 3 دقائق = مهارة واحدة كاملة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7B3A1E"/>
          </a:solidFill>
          <a:ln w="12700">
            <a:solidFill>
              <a:srgbClr val="7B3A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سرعة الوصول للمعلومة المطلوبة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7B3A1E">
              <a:alpha val="25000"/>
            </a:srgbClr>
          </a:solidFill>
          <a:ln w="12700">
            <a:solidFill>
              <a:srgbClr val="7B3A1E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A1B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-457200" y="-45720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FFFFFF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"/>
            <a:ext cx="182880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والتقنيات الناشئة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65760" y="438912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7452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31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شريك تعليمي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تخصيص التعلم لكل متعلم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أداء المتعلمين بدقة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المحتوى وتقديم التغذية الراجعة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دعم اتخاذ القرار التعليمي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4A1B8C">
              <a:alpha val="25000"/>
            </a:srgbClr>
          </a:solidFill>
          <a:ln w="12700">
            <a:solidFill>
              <a:srgbClr val="4A1B8C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32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التوليدي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— Gemini — Claude — Copilot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يُنشئ نصوصاً وصوراً وفيديو وعروضاً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الانتقال من استهلاك المعرفة إلى إنتاجها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تحويل حقيقية في العملية التعليمية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4A1B8C">
              <a:alpha val="25000"/>
            </a:srgbClr>
          </a:solidFill>
          <a:ln w="12700">
            <a:solidFill>
              <a:srgbClr val="4A1B8C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36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الواقع المعزز والافتراضي AR/VR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AR: إضافة عناصر رقمية للعالم الحقيقي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VR: بيئة رقمية كاملة يعيشها المتعلم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مختبرات افتراضية ورحلات تعليمية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4A1B8C"/>
          </a:solidFill>
          <a:ln w="12700">
            <a:solidFill>
              <a:srgbClr val="4A1B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تعلم قائم على الخبرة المباشرة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4A1B8C">
              <a:alpha val="25000"/>
            </a:srgbClr>
          </a:solidFill>
          <a:ln w="12700">
            <a:solidFill>
              <a:srgbClr val="4A1B8C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-457200" y="-45720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FFFFFF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"/>
            <a:ext cx="182880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الأثر والكفاءة والإنتاجية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65760" y="438912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7452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0" y="43891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44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مؤشرات الأداء KPI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النجاح ومعدل الحضور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رضا المستفيدين ومتوسط التحصيل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لا يُقاس لا يمكن تطويره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دقيقة = قرارات أفضل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1A5276">
              <a:alpha val="25000"/>
            </a:srgbClr>
          </a:solidFill>
          <a:ln w="12700">
            <a:solidFill>
              <a:srgbClr val="1A5276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46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كيرك باتريك Kirkpatrick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المستوى 1: رد الفعل والرضا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المستوى 2: مقدار التعلم الفعلي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المستوى 3: التغيير السلوكي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المستوى 4: النتائج المؤسسية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1A5276">
              <a:alpha val="25000"/>
            </a:srgbClr>
          </a:solidFill>
          <a:ln w="12700">
            <a:solidFill>
              <a:srgbClr val="1A5276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128016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4592"/>
            <a:ext cx="1097280" cy="420624"/>
          </a:xfrm>
          <a:prstGeom prst="rect">
            <a:avLst>
              <a:gd name="adj" fmla="val 13043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47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554480" y="73152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فيليبس Phillips ROI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005840"/>
            <a:ext cx="54864" cy="1508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115568"/>
            <a:ext cx="292608" cy="29260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المستوى الخامس: العائد على الاستثمار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49056" y="1005840"/>
            <a:ext cx="54864" cy="1508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27448" y="1115568"/>
            <a:ext cx="292608" cy="29260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72584" y="1078992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الفوائد أكبر من التكلفة؟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79976" y="2679192"/>
            <a:ext cx="54864" cy="1508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788920"/>
            <a:ext cx="292608" cy="29260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= (العائد − التكلفة) / التكلفة × 100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2679192"/>
            <a:ext cx="388620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449056" y="2679192"/>
            <a:ext cx="54864" cy="1508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7448" y="2788920"/>
            <a:ext cx="292608" cy="29260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2584" y="2752344"/>
            <a:ext cx="3383280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إثبات القيمة الاقتصادية للتدريب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869680" y="822960"/>
            <a:ext cx="274320" cy="4023360"/>
          </a:xfrm>
          <a:prstGeom prst="rect">
            <a:avLst/>
          </a:prstGeom>
          <a:solidFill>
            <a:srgbClr val="1A5276">
              <a:alpha val="25000"/>
            </a:srgbClr>
          </a:solidFill>
          <a:ln w="12700">
            <a:solidFill>
              <a:srgbClr val="1A5276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228600"/>
            <a:ext cx="2377440" cy="13075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رسائل الدورة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65760" y="2331720"/>
            <a:ext cx="84124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714232" y="2331720"/>
            <a:ext cx="64008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331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236829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الابتكار ليس استخدام التقنية فقط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898648"/>
            <a:ext cx="84124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714232" y="2898648"/>
            <a:ext cx="64008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89864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293522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التعليم الإلكتروني الناجح يعتمد على التصميم الفعال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465576"/>
            <a:ext cx="84124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714232" y="3465576"/>
            <a:ext cx="64008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46557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" y="350215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أصبح شريكاً في العملية التعليمية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280160" y="3858768"/>
            <a:ext cx="310896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25112" y="3858768"/>
            <a:ext cx="64008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71600" y="38587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783080" y="38953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أساس اتخاذ القرار التعليمي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63440" y="3858768"/>
            <a:ext cx="310896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708392" y="3858768"/>
            <a:ext cx="64008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38587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166360" y="38953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الأثر هو الطريق للتحسين المستمر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ابتكار يصنع الأثر… وجيل يقود المستقبل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دورة الابتكار في التعليم الإلكتروني — معهد إبهار</dc:title>
  <dc:subject>PptxGenJS Presentation</dc:subject>
  <dc:creator>PptxGenJS</dc:creator>
  <cp:lastModifiedBy>PptxGenJS</cp:lastModifiedBy>
  <cp:revision>1</cp:revision>
  <dcterms:created xsi:type="dcterms:W3CDTF">2026-06-08T05:46:37Z</dcterms:created>
  <dcterms:modified xsi:type="dcterms:W3CDTF">2026-06-08T05:46:37Z</dcterms:modified>
</cp:coreProperties>
</file>